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7708"/>
            <a:ext cx="12188952" cy="5029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1097280"/>
            <a:ext cx="64008" cy="46634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13716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4C"/>
                </a:solidFill>
                <a:latin typeface="Arial"/>
              </a:rPr>
              <a:t>THE PB INVESTING 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0" b="1" i="0">
                <a:solidFill>
                  <a:srgbClr val="FFFFFF"/>
                </a:solidFill>
                <a:latin typeface="Arial Black"/>
              </a:rPr>
              <a:t>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92608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0" b="1" i="0">
                <a:solidFill>
                  <a:srgbClr val="FFFFFF"/>
                </a:solidFill>
                <a:latin typeface="Arial Black"/>
              </a:rPr>
              <a:t>&amp; RETEST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4160520"/>
            <a:ext cx="6400800" cy="5029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434340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888888"/>
                </a:solidFill>
                <a:latin typeface="Arial"/>
              </a:rPr>
              <a:t>A systematic, rules-based approach to trading key structural levels
using VWAP, 8 EMA, and relative strength as confirmation.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4465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Arial"/>
              </a:rPr>
              <a:t>CONFIDENTIAL  ·  INTERNAL USE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7708"/>
            <a:ext cx="12188952" cy="5029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  <a:latin typeface="Arial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  <a:latin typeface="Arial"/>
              </a:rPr>
              <a:t>THE FOUNDATION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777240"/>
            <a:ext cx="11274552" cy="41148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777240"/>
            <a:ext cx="54864" cy="41148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14300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1">
                <a:solidFill>
                  <a:srgbClr val="FFFFFF"/>
                </a:solidFill>
                <a:latin typeface="Arial Black"/>
              </a:rPr>
              <a:t>"Levels that have been respected
once will be respected again."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9A84C"/>
                </a:solidFill>
                <a:latin typeface="Arial"/>
              </a:rPr>
              <a:t>— The core premise behind every trade this system takes.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074920"/>
            <a:ext cx="11274552" cy="10972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5212080"/>
            <a:ext cx="3657600" cy="141732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53492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4C"/>
                </a:solidFill>
                <a:latin typeface="Arial"/>
              </a:rPr>
              <a:t>RULE-BASED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71500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  <a:latin typeface="Arial"/>
              </a:rPr>
              <a:t>No discretion. No gut feel.
Every entry passes a strict
7-gate checklist.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61688" y="5212080"/>
            <a:ext cx="3657600" cy="141732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0288" y="53492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4C"/>
                </a:solidFill>
                <a:latin typeface="Arial"/>
              </a:rPr>
              <a:t>STRUCTURE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571500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  <a:latin typeface="Arial"/>
              </a:rPr>
              <a:t>Price respects levels.
PMH, PML, PDH, PDL, VWAP.
Mark them before the open.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66175" y="5212080"/>
            <a:ext cx="3657600" cy="141732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94776" y="53492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4C"/>
                </a:solidFill>
                <a:latin typeface="Arial"/>
              </a:rPr>
              <a:t>PATIENCE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94776" y="571500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  <a:latin typeface="Arial"/>
              </a:rPr>
              <a:t>You don't chase the break.
You wait for the retest.
That is the edge.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7708"/>
            <a:ext cx="12188952" cy="5029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  <a:latin typeface="Arial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  <a:latin typeface="Arial"/>
              </a:rPr>
              <a:t>LEVEL IDENTIFICATION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 Black"/>
              </a:rPr>
              <a:t>The Six Levels You Mark Before Every Session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11274552" cy="10972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25880"/>
            <a:ext cx="5577840" cy="16002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54864" cy="16002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490472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ECC71"/>
                </a:solidFill>
                <a:latin typeface="Arial Black"/>
              </a:rPr>
              <a:t>PMH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527048"/>
            <a:ext cx="1371600" cy="292608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52704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CC71"/>
                </a:solidFill>
                <a:latin typeface="Arial"/>
              </a:rPr>
              <a:t>HIGHEST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94767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Premarket High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28600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  <a:latin typeface="Arial"/>
              </a:rPr>
              <a:t>4:00am–9:30am session high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325880"/>
            <a:ext cx="5577840" cy="16002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325880"/>
            <a:ext cx="54864" cy="16002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0528" y="1490472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ECC71"/>
                </a:solidFill>
                <a:latin typeface="Arial Black"/>
              </a:rPr>
              <a:t>PML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241280" y="1527048"/>
            <a:ext cx="1371600" cy="292608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0" y="152704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CC71"/>
                </a:solidFill>
                <a:latin typeface="Arial"/>
              </a:rPr>
              <a:t>HIGHEST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194767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Premarket 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228600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  <a:latin typeface="Arial"/>
              </a:rPr>
              <a:t>4:00am–9:30am session low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108960"/>
            <a:ext cx="5577840" cy="16002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108960"/>
            <a:ext cx="54864" cy="1600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3273552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9A84C"/>
                </a:solidFill>
                <a:latin typeface="Arial Black"/>
              </a:rPr>
              <a:t>PDH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0" y="3310128"/>
            <a:ext cx="1371600" cy="292608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0" y="331012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9A84C"/>
                </a:solidFill>
                <a:latin typeface="Arial"/>
              </a:rPr>
              <a:t>HIGH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373075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Previous Day High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406908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  <a:latin typeface="Arial"/>
              </a:rPr>
              <a:t>Prior RTH session high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3108960"/>
            <a:ext cx="5577840" cy="16002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09360" y="3108960"/>
            <a:ext cx="54864" cy="1600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10528" y="3273552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9A84C"/>
                </a:solidFill>
                <a:latin typeface="Arial Black"/>
              </a:rPr>
              <a:t>PDL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241280" y="3310128"/>
            <a:ext cx="1371600" cy="292608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41280" y="331012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9A84C"/>
                </a:solidFill>
                <a:latin typeface="Arial"/>
              </a:rPr>
              <a:t>HIGH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10528" y="373075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Previous Day Low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10528" y="406908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  <a:latin typeface="Arial"/>
              </a:rPr>
              <a:t>Prior RTH session low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892040"/>
            <a:ext cx="5577840" cy="16002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" y="4892040"/>
            <a:ext cx="54864" cy="1600200"/>
          </a:xfrm>
          <a:prstGeom prst="rect">
            <a:avLst/>
          </a:prstGeom>
          <a:solidFill>
            <a:srgbClr val="5DA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" y="5056631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5DADE8"/>
                </a:solidFill>
                <a:latin typeface="Arial Black"/>
              </a:rPr>
              <a:t>VWAP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89120" y="5093207"/>
            <a:ext cx="1371600" cy="292608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9120" y="5093207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5DADE8"/>
                </a:solidFill>
                <a:latin typeface="Arial"/>
              </a:rPr>
              <a:t>DYNAMIC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5513831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Daily VWAP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5852159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  <a:latin typeface="Arial"/>
              </a:rPr>
              <a:t>Resets at 9:30am. Institutional bias line.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60" y="4892040"/>
            <a:ext cx="5577840" cy="16002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09360" y="4892040"/>
            <a:ext cx="54864" cy="16002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10528" y="5056631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888888"/>
                </a:solidFill>
                <a:latin typeface="Arial Black"/>
              </a:rPr>
              <a:t>8 EMA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241280" y="5093207"/>
            <a:ext cx="1371600" cy="292608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241280" y="5093207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888888"/>
                </a:solidFill>
                <a:latin typeface="Arial"/>
              </a:rPr>
              <a:t>FILTER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10528" y="5513831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8-Period EMA (5m)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10528" y="5852159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  <a:latin typeface="Arial"/>
              </a:rPr>
              <a:t>Momentum filter — price above = bullish, below = bearish.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7708"/>
            <a:ext cx="12188952" cy="5029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  <a:latin typeface="Arial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  <a:latin typeface="Arial"/>
              </a:rPr>
              <a:t>STEP 1 OF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 Black"/>
              </a:rPr>
              <a:t>Wait For the 5m Close Through the Level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11274552" cy="10972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25880"/>
            <a:ext cx="5577840" cy="52578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54864" cy="52578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508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4C"/>
                </a:solidFill>
                <a:latin typeface="Arial"/>
              </a:rPr>
              <a:t>The Golden Rule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92024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Arial Black"/>
              </a:rPr>
              <a:t>DO NOT enter
on the break itself.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10896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8888"/>
                </a:solidFill>
                <a:latin typeface="Arial"/>
              </a:rPr>
              <a:t>Wait for the 5-minute candle to fully CLOSE through the level. A wick doesn't count. A close below is confirmation.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069080"/>
            <a:ext cx="5120640" cy="10972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2062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4C3C"/>
                </a:solidFill>
                <a:latin typeface="Arial"/>
              </a:rPr>
              <a:t>SHORT signal: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262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Arial"/>
              </a:rPr>
              <a:t>5m candle closes BELOW PMH / PML / PDH / PDL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292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  <a:latin typeface="Arial"/>
              </a:rPr>
              <a:t>LONG signal: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3492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Arial"/>
              </a:rPr>
              <a:t>5m candle closes ABOVE PMH / PML / PDH / PDL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1325880"/>
            <a:ext cx="5486400" cy="52578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508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4C"/>
                </a:solidFill>
                <a:latin typeface="Arial"/>
              </a:rPr>
              <a:t>Why Not Enter on the Break?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2240" y="1920240"/>
            <a:ext cx="54864" cy="7772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19202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Fakeouts are common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22199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  <a:latin typeface="Arial"/>
              </a:rPr>
              <a:t>Price frequently wicks through a level and immediately reverses — catching breakout traders offside.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3017520"/>
            <a:ext cx="54864" cy="7772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30175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Risk/Reward is poor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331927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  <a:latin typeface="Arial"/>
              </a:rPr>
              <a:t>Entering at the breakout point means a wide stop. Waiting for the retest tightens the stop significantly.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92240" y="4114800"/>
            <a:ext cx="54864" cy="7772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41148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Chasing = emotional trading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441655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  <a:latin typeface="Arial"/>
              </a:rPr>
              <a:t>The system is built on discipline. The edge is patience, not speed.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92240" y="5212079"/>
            <a:ext cx="54864" cy="7772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0" y="5212079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Volume can be thin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5513831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  <a:latin typeface="Arial"/>
              </a:rPr>
              <a:t>The initial break may happen on low volume. Confirmation requires the structure to hold.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7708"/>
            <a:ext cx="12188952" cy="5029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  <a:latin typeface="Arial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  <a:latin typeface="Arial"/>
              </a:rPr>
              <a:t>STEP 2 OF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 Black"/>
              </a:rPr>
              <a:t>All Three Gates Must Open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11274552" cy="10972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888888"/>
                </a:solidFill>
                <a:latin typeface="Arial"/>
              </a:rPr>
              <a:t>If any single gate fails, there is no trade. No exceptions.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83080"/>
            <a:ext cx="5577840" cy="219456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965960"/>
            <a:ext cx="502920" cy="5029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9659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0000"/>
                </a:solidFill>
                <a:latin typeface="Arial Black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98424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 Black"/>
              </a:rPr>
              <a:t>Market Direction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35000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  <a:latin typeface="Arial"/>
              </a:rPr>
              <a:t>SPY + QQQ must BOTH be on the same side of VWAP.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743200"/>
            <a:ext cx="5212080" cy="10972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807208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Arial"/>
              </a:rPr>
              <a:t>BULLISH → Both above VWAP → LONG setups only
BEARISH → Both below VWAP → SHORT setups only
NEUTRAL → Disagreement → No trades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783080"/>
            <a:ext cx="5577840" cy="219456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92240" y="1965960"/>
            <a:ext cx="502920" cy="502920"/>
          </a:xfrm>
          <a:prstGeom prst="rect">
            <a:avLst/>
          </a:prstGeom>
          <a:solidFill>
            <a:srgbClr val="5DA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9659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0000"/>
                </a:solidFill>
                <a:latin typeface="Arial Black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198424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 Black"/>
              </a:rPr>
              <a:t>Per-Symbol VWAP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235000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  <a:latin typeface="Arial"/>
              </a:rPr>
              <a:t>The symbol itself must be on the correct side of its own VWAP.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2743200"/>
            <a:ext cx="5212080" cy="10972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2807208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Arial"/>
              </a:rPr>
              <a:t>SHORT trade → Symbol must be BELOW VWAP
LONG trade → Symbol must be ABOVE VWAP
Wrong side of VWAP = institutional bias against you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160520"/>
            <a:ext cx="5577840" cy="219456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4343400"/>
            <a:ext cx="502920" cy="5029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3434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0000"/>
                </a:solidFill>
                <a:latin typeface="Arial Black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436168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 Black"/>
              </a:rPr>
              <a:t>8 EMA Momentum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472744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  <a:latin typeface="Arial"/>
              </a:rPr>
              <a:t>Price must be on the correct side of the 8-period EMA (5m chart).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5120640"/>
            <a:ext cx="5212080" cy="10972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184648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Arial"/>
              </a:rPr>
              <a:t>SHORT trade → Price must be BELOW 8 EMA
LONG trade → Price must be ABOVE 8 EMA
The EMA shows who has momentum — buyers or sellers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4160520"/>
            <a:ext cx="5577840" cy="219456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92240" y="4343400"/>
            <a:ext cx="502920" cy="502920"/>
          </a:xfrm>
          <a:prstGeom prst="rect">
            <a:avLst/>
          </a:prstGeom>
          <a:solidFill>
            <a:srgbClr val="BE6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43434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0000"/>
                </a:solidFill>
                <a:latin typeface="Arial Black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0" y="436168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 Black"/>
              </a:rPr>
              <a:t>Relative Strength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472744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  <a:latin typeface="Arial"/>
              </a:rPr>
              <a:t>The symbol must show clear momentum bias vs SPY.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92240" y="5120640"/>
            <a:ext cx="5212080" cy="10972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5184648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Arial"/>
              </a:rPr>
              <a:t>SHORT trade → Symbol showing WEAK RS vs SPY
LONG trade → Symbol showing STRONG RS vs SPY
Trade the name that is moving hardest in your direction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7708"/>
            <a:ext cx="12188952" cy="5029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  <a:latin typeface="Arial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  <a:latin typeface="Arial"/>
              </a:rPr>
              <a:t>STEP 3 OF 3 — THE ENTRY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 Black"/>
              </a:rPr>
              <a:t>The 1-Minute Tap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11274552" cy="10972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25880"/>
            <a:ext cx="5577840" cy="52578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54864" cy="52578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508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4C"/>
                </a:solidFill>
                <a:latin typeface="Arial"/>
              </a:rPr>
              <a:t>Why 1-Minute Precision?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920240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Arial"/>
              </a:rPr>
              <a:t>After the 5m break is confirmed, drop to the 1m chart and watch for price to pull back and TAP the broken level.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743200"/>
            <a:ext cx="54864" cy="6400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74320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Tighter stop loss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03580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  <a:latin typeface="Arial"/>
              </a:rPr>
              <a:t>Your stop sits just beyond the structure level — the 1m entry gets you far closer to it than a 5m entry would.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703320"/>
            <a:ext cx="54864" cy="6400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7033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Better R:R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99592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  <a:latin typeface="Arial"/>
              </a:rPr>
              <a:t>Same profit target, smaller risk = higher R multiple on every trade.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663440"/>
            <a:ext cx="54864" cy="6400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6634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Lower exposure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95604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  <a:latin typeface="Arial"/>
              </a:rPr>
              <a:t>You're in the trade for less time before it moves — or fails fast.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623560"/>
            <a:ext cx="54864" cy="6400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56235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Confirmed flip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91616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  <a:latin typeface="Arial"/>
              </a:rPr>
              <a:t>The level flipping from support to resistance (or vice versa) is visible on the 1m before it is on the 5m.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1325880"/>
            <a:ext cx="5486400" cy="246888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74C3C"/>
                </a:solidFill>
                <a:latin typeface="Arial Black"/>
              </a:rPr>
              <a:t>SHORT Entry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1874519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Arial"/>
              </a:rPr>
              <a:t>After 5m breaks BELOW key level →
Wait for 1m candle range to TAP back UP into level →
Level now acts as resistance →
Entry as 1m shows rejection / close back down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3977639"/>
            <a:ext cx="5486400" cy="246888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4114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CC71"/>
                </a:solidFill>
                <a:latin typeface="Arial Black"/>
              </a:rPr>
              <a:t>LONG Entry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52628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Arial"/>
              </a:rPr>
              <a:t>After 5m breaks ABOVE key level →
Wait for 1m candle range to TAP back DOWN into level →
Level now acts as support →
Entry as 1m shows bounce / close back up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6492240"/>
            <a:ext cx="11274552" cy="10972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6547104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  <a:latin typeface="Arial"/>
              </a:rPr>
              <a:t>TIMEFRAME STACK:   15m → Context     5m → Structure &amp; Break     1m → Entry Precision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7708"/>
            <a:ext cx="12188952" cy="5029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  <a:latin typeface="Arial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  <a:latin typeface="Arial"/>
              </a:rPr>
              <a:t>ENTRY CHECKLIST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 Black"/>
              </a:rPr>
              <a:t>Every Box Must Be Checked. Every Time.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11274552" cy="10972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5577840" cy="534924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54864" cy="53492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38988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74C3C"/>
                </a:solidFill>
                <a:latin typeface="Arial Black"/>
              </a:rPr>
              <a:t>SHORT  (PUT)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81051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81051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Arial"/>
              </a:rPr>
              <a:t>Market direction = BEARISH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2448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24485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Arial"/>
              </a:rPr>
              <a:t>SPY + QQQ both BELOW their VWAP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679191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  <a:latin typeface="Arial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679191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Arial"/>
              </a:rPr>
              <a:t>5m candle closed BELOW PMH / PML / PDH / PDL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11353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  <a:latin typeface="Aria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11353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Arial"/>
              </a:rPr>
              <a:t>Symbol price is BELOW its own VWAP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54787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  <a:latin typeface="Arial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54787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Arial"/>
              </a:rPr>
              <a:t>Symbol price is BELOW the 8 EMA (5m)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98221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  <a:latin typeface="Arial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398221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Arial"/>
              </a:rPr>
              <a:t>Symbol showing WEAK RS vs SPY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4165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441655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Arial"/>
              </a:rPr>
              <a:t>1m candle taps back UP to broken level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85089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  <a:latin typeface="Arial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485089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Arial"/>
              </a:rPr>
              <a:t>Session = Regular Hours only (9:30am–4pm ET)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1280160"/>
            <a:ext cx="5577840" cy="534924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3640" y="1280160"/>
            <a:ext cx="54864" cy="53492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138988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ECC71"/>
                </a:solidFill>
                <a:latin typeface="Arial Black"/>
              </a:rPr>
              <a:t>LONG  (CALL)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181051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  <a:latin typeface="Arial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181051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Arial"/>
              </a:rPr>
              <a:t>Market direction = BULLISH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22448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  <a:latin typeface="Arial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224485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Arial"/>
              </a:rPr>
              <a:t>SPY + QQQ both ABOVE their VWAP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2679191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  <a:latin typeface="Arial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2679191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Arial"/>
              </a:rPr>
              <a:t>5m candle closed ABOVE PMH / PML / PDH / PDL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311353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  <a:latin typeface="Arial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311353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Arial"/>
              </a:rPr>
              <a:t>Symbol price is ABOVE its own VWAP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354787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  <a:latin typeface="Arial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354787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Arial"/>
              </a:rPr>
              <a:t>Symbol price is ABOVE the 8 EMA (5m)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398221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  <a:latin typeface="Arial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398221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Arial"/>
              </a:rPr>
              <a:t>Symbol showing STRONG RS vs SPY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44165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  <a:latin typeface="Arial"/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441655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Arial"/>
              </a:rPr>
              <a:t>1m candle taps back DOWN to broken level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0" y="485089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  <a:latin typeface="Arial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485089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Arial"/>
              </a:rPr>
              <a:t>Session = Regular Hours only (9:30am–4pm ET)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7708"/>
            <a:ext cx="12188952" cy="5029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  <a:latin typeface="Arial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  <a:latin typeface="Arial"/>
              </a:rPr>
              <a:t>RISK &amp; TRADE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 Black"/>
              </a:rPr>
              <a:t>The Rules That Keep You in the Game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11274552" cy="10972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25880"/>
            <a:ext cx="3657600" cy="237744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54864" cy="23774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554480"/>
            <a:ext cx="3200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C9A84C"/>
                </a:solidFill>
                <a:latin typeface="Arial Black"/>
              </a:rPr>
              <a:t>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423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Risk Per Trade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834639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  <a:latin typeface="Arial"/>
              </a:rPr>
              <a:t>Maximum account risk on any single position.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61688" y="1325880"/>
            <a:ext cx="3657600" cy="237744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61688" y="1325880"/>
            <a:ext cx="54864" cy="23774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2855" y="1554480"/>
            <a:ext cx="3200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C9A84C"/>
                </a:solidFill>
                <a:latin typeface="Arial Black"/>
              </a:rPr>
              <a:t>2R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2855" y="2423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Profit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2855" y="2834639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  <a:latin typeface="Arial"/>
              </a:rPr>
              <a:t>Take profits at 2× your initial risk. Always.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66175" y="1325880"/>
            <a:ext cx="3657600" cy="237744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66175" y="1325880"/>
            <a:ext cx="54864" cy="23774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67344" y="1554480"/>
            <a:ext cx="3200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C9A84C"/>
                </a:solidFill>
                <a:latin typeface="Arial Black"/>
              </a:rPr>
              <a:t>1R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67344" y="2423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Breakeven Trigger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67344" y="2834639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  <a:latin typeface="Arial"/>
              </a:rPr>
              <a:t>Move stop to breakeven when 1R in profit.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931920"/>
            <a:ext cx="3657600" cy="237744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931920"/>
            <a:ext cx="54864" cy="23774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4160520"/>
            <a:ext cx="3200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C9A84C"/>
                </a:solidFill>
                <a:latin typeface="Arial Black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5029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Max Trades / Day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5440679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  <a:latin typeface="Arial"/>
              </a:rPr>
              <a:t>After 4 trades, session is over. No exceptions.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61688" y="3931920"/>
            <a:ext cx="3657600" cy="237744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61688" y="3931920"/>
            <a:ext cx="54864" cy="23774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62855" y="4160520"/>
            <a:ext cx="3200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C9A84C"/>
                </a:solidFill>
                <a:latin typeface="Arial Black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62855" y="5029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Max Open Positions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62855" y="5440679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  <a:latin typeface="Arial"/>
              </a:rPr>
              <a:t>Maximum simultaneous open trades at any time.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66175" y="3931920"/>
            <a:ext cx="3657600" cy="237744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66175" y="3931920"/>
            <a:ext cx="54864" cy="23774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67344" y="4160520"/>
            <a:ext cx="3200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C9A84C"/>
                </a:solidFill>
                <a:latin typeface="Arial Black"/>
              </a:rPr>
              <a:t>20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67344" y="5029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Time Exit (Bars)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67344" y="5440679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  <a:latin typeface="Arial"/>
              </a:rPr>
              <a:t>Exit any trade that hasn't moved after 20 bars.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6492240"/>
            <a:ext cx="11274552" cy="10972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6547104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88"/>
                </a:solidFill>
                <a:latin typeface="Arial"/>
              </a:rPr>
              <a:t>Stop placement: Structurally just beyond the 5m key level — never arbitrary.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7708"/>
            <a:ext cx="12188952" cy="5029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  <a:latin typeface="Arial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  <a:latin typeface="Arial"/>
              </a:rPr>
              <a:t>REAL-WORLD PATTERNS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 Black"/>
              </a:rPr>
              <a:t>The Three Most Common Setups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11274552" cy="10972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25880"/>
            <a:ext cx="3657600" cy="53035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3657600" cy="4114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362456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Arial Black"/>
              </a:rPr>
              <a:t>01  ~80% of setups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874519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 Black"/>
              </a:rPr>
              <a:t>Premarket Gap Fail — SHORT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377439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  <a:latin typeface="Arial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37743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Stock gaps up hard in premarket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761487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761487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Fails at or near the Premarket High at open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145535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145535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5m candle closes BELOW PMH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529583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  <a:latin typeface="Arial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529583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VWAP is above price → bearish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3913631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  <a:latin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913631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8 EMA is above price → bearish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297679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  <a:latin typeface="Arial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29767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1m retest taps PMH from below → SHORT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4754880"/>
            <a:ext cx="3337560" cy="10972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4846320"/>
            <a:ext cx="3383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88888"/>
                </a:solidFill>
                <a:latin typeface="Arial"/>
              </a:rPr>
              <a:t>Example: NVDA gaps up $8 in PM. Opens, immediately fades. PMH holds as resistance. VWAP + EMA both above. Short on the 1m tap.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61688" y="1325880"/>
            <a:ext cx="3657600" cy="53035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61688" y="1325880"/>
            <a:ext cx="3657600" cy="4114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98848" y="1362456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Arial Black"/>
              </a:rPr>
              <a:t>02  Intraday momentum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98848" y="1874519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 Black"/>
              </a:rPr>
              <a:t>PDH / PDL Break &amp; Retest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98848" y="2377439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  <a:latin typeface="Arial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64608" y="237743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Price breaks above PDH or below PDL on 5m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98848" y="2761487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  <a:latin typeface="Arial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64608" y="2761487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Market direction aligned (BULL or BEAR)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98848" y="3145535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  <a:latin typeface="Arial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64608" y="3145535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VWAP agrees with trade direction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98848" y="3529583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  <a:latin typeface="Arial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64608" y="3529583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8 EMA on correct side of price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98848" y="3913631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  <a:latin typeface="Arial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64608" y="3913631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Pull back to PDH/PDL level on 1m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98848" y="4297679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  <a:latin typeface="Arial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64608" y="429767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Entry at the flip point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498848" y="4754880"/>
            <a:ext cx="3337560" cy="10972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98848" y="4846320"/>
            <a:ext cx="3383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88888"/>
                </a:solidFill>
                <a:latin typeface="Arial"/>
              </a:rPr>
              <a:t>Example: SPY breaks above prior day high at 9:45am. Bullish market. Pulls back to PDH on 1m, holds as support. LONG.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66175" y="1325880"/>
            <a:ext cx="3657600" cy="53035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266175" y="1325880"/>
            <a:ext cx="3657600" cy="4114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03336" y="1362456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Arial Black"/>
              </a:rPr>
              <a:t>03  Counter-gap strength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03336" y="1874519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 Black"/>
              </a:rPr>
              <a:t>Gap Down Recovery — LONG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03336" y="2377439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  <a:latin typeface="Arial"/>
              </a:rP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69096" y="237743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Stock gaps down but finds a floor at PMH/PDH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03336" y="2761487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  <a:latin typeface="Arial"/>
              </a:rPr>
              <a:t>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69096" y="2761487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Market turns BULLISH (SPY + QQQ above VWAP)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03336" y="3145535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  <a:latin typeface="Arial"/>
              </a:rPr>
              <a:t>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69096" y="3145535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Price reclaims the structural level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03336" y="3529583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  <a:latin typeface="Arial"/>
              </a:rPr>
              <a:t>✓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69096" y="3529583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Retests it from above on 1m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03336" y="3913631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  <a:latin typeface="Arial"/>
              </a:rPr>
              <a:t>✓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769096" y="3913631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Strong RS vs SPY confirmed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03336" y="4297679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  <a:latin typeface="Arial"/>
              </a:rPr>
              <a:t>✓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769096" y="429767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LONG on the 1m bounce off the reclaimed level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403336" y="4754880"/>
            <a:ext cx="3337560" cy="10972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403336" y="4846320"/>
            <a:ext cx="3383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88888"/>
                </a:solidFill>
                <a:latin typeface="Arial"/>
              </a:rPr>
              <a:t>Example: AAPL gaps down, stabilizes at PDH. Market rallies. AAPL reclaims PDH on 5m. 1m taps back to PDH, holds. LONG.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7708"/>
            <a:ext cx="12188952" cy="5029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  <a:latin typeface="Arial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"/>
            <a:ext cx="12188952" cy="1143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4C"/>
                </a:solidFill>
                <a:latin typeface="Arial"/>
              </a:rPr>
              <a:t>THE 10 COMMANDMENTS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486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 Black"/>
              </a:rPr>
              <a:t>Rules That Separate Profitable Traders From the Rest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5577840" cy="86868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502920" cy="86868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71600"/>
            <a:ext cx="502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9A84C"/>
                </a:solidFill>
                <a:latin typeface="Arial Black"/>
              </a:rPr>
              <a:t>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527048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Arial"/>
              </a:rPr>
              <a:t>Don't chase the break. Wait for the 5m close through the level.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77440"/>
            <a:ext cx="5577840" cy="86868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377440"/>
            <a:ext cx="502920" cy="86868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377440"/>
            <a:ext cx="502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9A84C"/>
                </a:solidFill>
                <a:latin typeface="Arial Black"/>
              </a:rPr>
              <a:t>II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532888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Arial"/>
              </a:rPr>
              <a:t>VWAP is the single most important filter. Never trade against it.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383280"/>
            <a:ext cx="5577840" cy="86868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383280"/>
            <a:ext cx="502920" cy="86868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383280"/>
            <a:ext cx="502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9A84C"/>
                </a:solidFill>
                <a:latin typeface="Arial Black"/>
              </a:rPr>
              <a:t>III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538728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Arial"/>
              </a:rPr>
              <a:t>The retest is the edge. Not the break. Patience is your strategy.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389120"/>
            <a:ext cx="5577840" cy="86868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389120"/>
            <a:ext cx="502920" cy="86868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389120"/>
            <a:ext cx="502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9A84C"/>
                </a:solidFill>
                <a:latin typeface="Arial Black"/>
              </a:rPr>
              <a:t>IV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544568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Arial"/>
              </a:rPr>
              <a:t>If any of the 7 gates fail, there is no trade. Full stop.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394960"/>
            <a:ext cx="5577840" cy="86868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5394960"/>
            <a:ext cx="502920" cy="86868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394960"/>
            <a:ext cx="502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9A84C"/>
                </a:solidFill>
                <a:latin typeface="Arial Black"/>
              </a:rPr>
              <a:t>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550408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Arial"/>
              </a:rPr>
              <a:t>The 8 EMA is a confirmation filter — not a level to trade off.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3640" y="1371600"/>
            <a:ext cx="5577840" cy="86868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63640" y="1371600"/>
            <a:ext cx="502920" cy="86868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63640" y="1371600"/>
            <a:ext cx="502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9A84C"/>
                </a:solidFill>
                <a:latin typeface="Arial Black"/>
              </a:rPr>
              <a:t>VI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03720" y="1527048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Arial"/>
              </a:rPr>
              <a:t>4 trades per day maximum. Discipline over opportunity.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2377440"/>
            <a:ext cx="5577840" cy="86868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63640" y="2377440"/>
            <a:ext cx="502920" cy="86868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2377440"/>
            <a:ext cx="502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9A84C"/>
                </a:solidFill>
                <a:latin typeface="Arial Black"/>
              </a:rPr>
              <a:t>VII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3720" y="2532888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Arial"/>
              </a:rPr>
              <a:t>Trade the name with the strongest RS in the market's direction.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3383280"/>
            <a:ext cx="5577840" cy="86868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63640" y="3383280"/>
            <a:ext cx="502920" cy="86868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63640" y="3383280"/>
            <a:ext cx="502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9A84C"/>
                </a:solidFill>
                <a:latin typeface="Arial Black"/>
              </a:rPr>
              <a:t>VIII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03720" y="3538728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Arial"/>
              </a:rPr>
              <a:t>Stop at 1R beyond the structure level. No wide stops.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63640" y="4389120"/>
            <a:ext cx="5577840" cy="86868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63640" y="4389120"/>
            <a:ext cx="502920" cy="86868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63640" y="4389120"/>
            <a:ext cx="502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9A84C"/>
                </a:solidFill>
                <a:latin typeface="Arial Black"/>
              </a:rPr>
              <a:t>IX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03720" y="4544568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Arial"/>
              </a:rPr>
              <a:t>Take profit at 2R. Breakeven at 1R. The math compounds.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63640" y="5394960"/>
            <a:ext cx="5577840" cy="86868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63640" y="5394960"/>
            <a:ext cx="502920" cy="86868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63640" y="5394960"/>
            <a:ext cx="502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9A84C"/>
                </a:solidFill>
                <a:latin typeface="Arial Black"/>
              </a:rPr>
              <a:t>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03720" y="5550408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Arial"/>
              </a:rPr>
              <a:t>The system is rule-based for a reason. Discretion is the enemy.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